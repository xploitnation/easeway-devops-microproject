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EASEWAY – STUDENT MENTAL WELLNESS PLATFORM</a:t>
            </a:r>
          </a:p>
          <a:p>
            <a:pPr>
              <a:spcBef>
                <a:spcPts val="1400"/>
              </a:spcBef>
              <a:defRPr sz="2000">
                <a:solidFill>
                  <a:srgbClr val="DCEBEE"/>
                </a:solidFill>
              </a:defRPr>
            </a:pPr>
            <a:r>
              <a:t>End-to-End DevSecOps Pipeline, IaC Provisioning, and Shift-Left Security</a:t>
            </a:r>
          </a:p>
          <a:p>
            <a:pPr>
              <a:spcBef>
                <a:spcPts val="3600"/>
              </a:spcBef>
              <a:defRPr sz="1300">
                <a:solidFill>
                  <a:srgbClr val="FFD699"/>
                </a:solidFill>
              </a:defRPr>
            </a:pPr>
            <a:r>
              <a:t>Academic Micro-Project | Subject: DevSecOps Lab (B.Tech Cyber Security / Computer Eng.)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Shah &amp; Anchor Kutchhi Engineering College (SAKEC) | Mumbai University | CO1, CO2, CO3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PROJECT GENESIS &amp; UN SDGS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Problem Definition &amp;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7252E"/>
                </a:solidFill>
              </a:defRPr>
            </a:pPr>
            <a:r>
              <a:t>The Challenge: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• Students face academic and personal stress but hesitate to seek help due to privacy stigma and fear of academic repercussions.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• Traditional campus health software gathers extensive Personally Identifiable Information (PII) like roll numbers and email addresses.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• Engineering Challenge: Build an accessible, anonymous platform while upholding clinical ethics, data encryption at rest, and strict k-anonymity.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5F6B"/>
                </a:solidFill>
              </a:defRPr>
            </a:pPr>
            <a:r>
              <a:t>Project Scope &amp; Alignment: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✔ UN SDG Alignment: SDG 3 (Good Health &amp; Well-being) and SDG 9 (Industry, Innovation &amp; Infrastructure).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✔ Target Backlog: 10 Core User Stories (US-01 to US-10) managed in JIRA with Ethical Definition of Done.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✔ Functional Scope: Anonymous mood logging, AES-256-GCM encrypted reflections, confidential counsellor booking, and rule-based non-diagnostic crisis signposting.</a:t>
            </a:r>
          </a:p>
          <a:p>
            <a:pPr>
              <a:spcBef>
                <a:spcPts val="800"/>
              </a:spcBef>
              <a:defRPr sz="1300">
                <a:solidFill>
                  <a:srgbClr val="4F626C"/>
                </a:solidFill>
              </a:defRPr>
            </a:pPr>
            <a:r>
              <a:t>✔ DevSecOps Scope: Full automated CI/CD pipeline, containerization, SAST, CVE scanning, and cloud IaC.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ARCHITECTURE &amp; METHODOLOGY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System Design &amp; DevSecOps Lifecycle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300">
                <a:solidFill>
                  <a:srgbClr val="1F5F6B"/>
                </a:solidFill>
              </a:defRPr>
            </a:pPr>
            <a:r>
              <a:t>1. Version Control (CO1): </a:t>
            </a:r>
            <a:r>
              <a:rPr b="0" sz="1200">
                <a:solidFill>
                  <a:srgbClr val="17252E"/>
                </a:solidFill>
              </a:rPr>
              <a:t>Git &amp; GitHub: Feature branches, pull requests, strict .gitignore protecting sensitive keys and DB.</a:t>
            </a:r>
          </a:p>
          <a:p>
            <a:pPr>
              <a:spcBef>
                <a:spcPts val="600"/>
              </a:spcBef>
              <a:defRPr b="1" sz="1300">
                <a:solidFill>
                  <a:srgbClr val="1F5F6B"/>
                </a:solidFill>
              </a:defRPr>
            </a:pPr>
            <a:r>
              <a:t>2. Continuous Integration &amp; Quality Gates (CO2): </a:t>
            </a:r>
            <a:r>
              <a:rPr b="0" sz="1200">
                <a:solidFill>
                  <a:srgbClr val="17252E"/>
                </a:solidFill>
              </a:rPr>
              <a:t>Jenkins Pipeline: Triggers automatically on commit. Runs 19 automated integration and security checks in an isolated environment.</a:t>
            </a:r>
          </a:p>
          <a:p>
            <a:pPr>
              <a:spcBef>
                <a:spcPts val="600"/>
              </a:spcBef>
              <a:defRPr b="1" sz="1300">
                <a:solidFill>
                  <a:srgbClr val="1F5F6B"/>
                </a:solidFill>
              </a:defRPr>
            </a:pPr>
            <a:r>
              <a:t>3. Shift-Left Security (CO3): </a:t>
            </a:r>
            <a:r>
              <a:rPr b="0" sz="1200">
                <a:solidFill>
                  <a:srgbClr val="17252E"/>
                </a:solidFill>
              </a:rPr>
              <a:t>SonarQube SAST (analyzes code for CWE/OWASP bugs) + Aqua Trivy (scans Docker container layers and npm packages for CVEs).</a:t>
            </a:r>
          </a:p>
          <a:p>
            <a:pPr>
              <a:spcBef>
                <a:spcPts val="600"/>
              </a:spcBef>
              <a:defRPr b="1" sz="1300">
                <a:solidFill>
                  <a:srgbClr val="1F5F6B"/>
                </a:solidFill>
              </a:defRPr>
            </a:pPr>
            <a:r>
              <a:t>4. Containerization &amp; Packaging (CO3): </a:t>
            </a:r>
            <a:r>
              <a:rPr b="0" sz="1200">
                <a:solidFill>
                  <a:srgbClr val="17252E"/>
                </a:solidFill>
              </a:rPr>
              <a:t>Docker: Multi-stage slim image (`node:20-bookworm-slim`), non-root user execution, persistent volume mapping for encrypted data.</a:t>
            </a:r>
          </a:p>
          <a:p>
            <a:pPr>
              <a:spcBef>
                <a:spcPts val="600"/>
              </a:spcBef>
              <a:defRPr b="1" sz="1300">
                <a:solidFill>
                  <a:srgbClr val="1F5F6B"/>
                </a:solidFill>
              </a:defRPr>
            </a:pPr>
            <a:r>
              <a:t>5. Infrastructure as Code (CO3): </a:t>
            </a:r>
            <a:r>
              <a:rPr b="0" sz="1200">
                <a:solidFill>
                  <a:srgbClr val="17252E"/>
                </a:solidFill>
              </a:rPr>
              <a:t>Terraform on AWS: Declaratively provisions VPC, Subnets, Internet Gateways, Security Groups, and Ubuntu EC2 instances.</a:t>
            </a:r>
          </a:p>
          <a:p>
            <a:pPr>
              <a:spcBef>
                <a:spcPts val="600"/>
              </a:spcBef>
              <a:defRPr b="1" sz="1300">
                <a:solidFill>
                  <a:srgbClr val="1F5F6B"/>
                </a:solidFill>
              </a:defRPr>
            </a:pPr>
            <a:r>
              <a:t>6. Continuous Monitoring &amp; Observability: </a:t>
            </a:r>
            <a:r>
              <a:rPr b="0" sz="1200">
                <a:solidFill>
                  <a:srgbClr val="17252E"/>
                </a:solidFill>
              </a:rPr>
              <a:t>Prometheus &amp; Grafana: Scrapes system metrics (CPU, RAM, Disk) and application health metrics with real-time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APPLICATION &amp; PRIVACY ENGINEERING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Website Implementation &amp; Automated Test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F5F6B"/>
                </a:solidFill>
              </a:defRPr>
            </a:pPr>
            <a:r>
              <a:t>Key Architectural Features:</a:t>
            </a:r>
          </a:p>
          <a:p>
            <a:pPr>
              <a:spcBef>
                <a:spcPts val="600"/>
              </a:spcBef>
              <a:defRPr sz="1200">
                <a:solidFill>
                  <a:srgbClr val="4F626C"/>
                </a:solidFill>
              </a:defRPr>
            </a:pPr>
            <a:r>
              <a:t>• Zero-PII Data Model: No email, real name, roll number, or IP stored in DB. Registration rejects '@' symbols.</a:t>
            </a:r>
          </a:p>
          <a:p>
            <a:pPr>
              <a:spcBef>
                <a:spcPts val="600"/>
              </a:spcBef>
              <a:defRPr sz="1200">
                <a:solidFill>
                  <a:srgbClr val="4F626C"/>
                </a:solidFill>
              </a:defRPr>
            </a:pPr>
            <a:r>
              <a:t>• Encryption at Rest: Notes encrypted via authenticated AES-256-GCM with unique IV and auth tag per entry.</a:t>
            </a:r>
          </a:p>
          <a:p>
            <a:pPr>
              <a:spcBef>
                <a:spcPts val="600"/>
              </a:spcBef>
              <a:defRPr sz="1200">
                <a:solidFill>
                  <a:srgbClr val="4F626C"/>
                </a:solidFill>
              </a:defRPr>
            </a:pPr>
            <a:r>
              <a:t>• k-Anonymity (k=5): Campus trend averages are automatically hidden unless 5+ distinct students log data on that date.</a:t>
            </a:r>
          </a:p>
          <a:p>
            <a:pPr>
              <a:spcBef>
                <a:spcPts val="600"/>
              </a:spcBef>
              <a:defRPr sz="1200">
                <a:solidFill>
                  <a:srgbClr val="4F626C"/>
                </a:solidFill>
              </a:defRPr>
            </a:pPr>
            <a:r>
              <a:t>• Accessible Lightweight UI: 22KB vanilla JS, semantic ARIA live regions, keyboard navigation (WCAG 2.1 AA).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52E"/>
                </a:solidFill>
              </a:defRPr>
            </a:pPr>
            <a:r>
              <a:t>Automated Test Suite (19/19 Passed):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TC-01, 01b, 01c: Register with handle; reject emails; require consent.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TC-02, 02b, 02c: Mood entry; note encrypted at rest; consent revocation blocks writes.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TC-04: RBAC access control (student vs counsellor boundaries).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TC-05, 05b: SQL injection resistance and state-changing CSRF header defense.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TC-06, 06b: Crisis keyword trigger and appointment booking.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TC-07, 07b: Right to be forgotten (cascade delete of user and notes).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TC-08: Daily average hidden below k=5 students, revealed at 5.</a:t>
            </a:r>
          </a:p>
          <a:p>
            <a:pPr>
              <a:spcBef>
                <a:spcPts val="400"/>
              </a:spcBef>
              <a:defRPr sz="1100">
                <a:solidFill>
                  <a:srgbClr val="1D7568"/>
                </a:solidFill>
              </a:defRPr>
            </a:pPr>
            <a:r>
              <a:t>✔ TC-10: Server log sanitization (no notes, passwords, or handles logged).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DOCKER &amp; JENKINS PIPELINES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Containerization &amp; Jenkins CI/CD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F5F6B"/>
                </a:solidFill>
              </a:defRPr>
            </a:pPr>
            <a:r>
              <a:t>1. Dockerfile Container Hardening: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• Base Image: node:20-bookworm-slim — minimal attack surface, stripped of non-essential packages.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• Native Addon Compilation: Isolated build step for better-sqlite3 with build-essential cleanup.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• Non-Root Security: Runs under unprivileged `USER node` to prevent container breakout exploits.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• Persistent Data Volume: `/app/data` mounted on host to persist SQLite database and AES key across container redeployments.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• Healthcheck Directive: Polls `/api/me` every 30s to automatically report container readiness.</a:t>
            </a:r>
          </a:p>
          <a:p>
            <a:pPr>
              <a:spcBef>
                <a:spcPts val="1200"/>
              </a:spcBef>
              <a:defRPr b="1" sz="1400">
                <a:solidFill>
                  <a:srgbClr val="1F5F6B"/>
                </a:solidFill>
              </a:defRPr>
            </a:pPr>
            <a:r>
              <a:t>2. Declarative Jenkins Pipeline Stages: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➡ Stage 1 - Checkout: Pulls source code from GitHub main branch.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➡ Stage 2 - Unit &amp; Integration Test: Executes `npm test` verifying 19 test cases.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➡ Stage 3 - SonarQube SAST: Runs static analysis scanner with quality gate enforcement.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➡ Stage 4 - Docker Build: Builds `easeway:latest` image using Dockerfile.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➡ Stage 5 - Trivy Security Scan: Scans image for HIGH/CRITICAL CVEs; outputs HTML report.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➡ Stage 6 - Deploy Container: Automatically stops old container and launches updated container with persistent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AUTOMATED AWS DEPLOYMENT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Cloud Infrastructure as Code with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F5F6B"/>
                </a:solidFill>
              </a:defRPr>
            </a:pPr>
            <a:r>
              <a:t>Declarative Infrastructure Provisioning (ap-south-1 Mumbai):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• VPC &amp; Networking (networking.tf): </a:t>
            </a:r>
            <a:r>
              <a:rPr b="0" sz="1100">
                <a:solidFill>
                  <a:srgbClr val="4F626C"/>
                </a:solidFill>
              </a:rPr>
              <a:t>Provisions custom VPC (10.0.0.0/16), public subnet (10.0.1.0/24), Internet Gateway, and Route Table with public internet routing.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• Security Group Hardening (security_group.tf): </a:t>
            </a:r>
            <a:r>
              <a:rPr b="0" sz="1100">
                <a:solidFill>
                  <a:srgbClr val="4F626C"/>
                </a:solidFill>
              </a:rPr>
              <a:t>Enforces least privilege ingress firewall rules: Port 22 (SSH admin), Port 80/443 (HTTP/HTTPS), Port 3000 (Easeway Web App), Port 8080 (Jenkins), Port 9000 (SonarQube), Port 9090 (Prometheus).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• Compute Provisioning (ec2.tf): </a:t>
            </a:r>
            <a:r>
              <a:rPr b="0" sz="1100">
                <a:solidFill>
                  <a:srgbClr val="4F626C"/>
                </a:solidFill>
              </a:rPr>
              <a:t>Deploys Ubuntu 22.04 LTS (t3.medium / t2.micro) with 30GB gp3 root volume and cloud-init user_data script automatically installing Docker Engine and Git.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• Ansible Configuration Automation (ansible/): </a:t>
            </a:r>
            <a:r>
              <a:rPr b="0" sz="1100">
                <a:solidFill>
                  <a:srgbClr val="4F626C"/>
                </a:solidFill>
              </a:rPr>
              <a:t>Playbook automates server bootstrapping, installing Docker Compose, configuring user groups, and running the containerized stack.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• Reproducibility &amp; Teardown: </a:t>
            </a:r>
            <a:r>
              <a:rPr b="0" sz="1100">
                <a:solidFill>
                  <a:srgbClr val="4F626C"/>
                </a:solidFill>
              </a:rPr>
              <a:t>Entire cloud environment can be created with `terraform apply` and safely decommissioned with `terraform destroy` in one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SONARQUBE &amp; AQUA TRIVY FINDINGS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Security Assessment &amp; Basic Vulnerability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F5F6B"/>
                </a:solidFill>
              </a:defRPr>
            </a:pPr>
            <a:r>
              <a:t>1. SonarQube SAST Code Analysis: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✔ Quality Gate Status: PASSED (Grade A)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✔ Vulnerabilities: 0 | Bugs: 0 | Security Hotspots: 100% Reviewed and Mitigated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✔ Key Verified Mitigations: Parameterized SQL bindings prevent SQLi; custom headers prevent CSRF; zero PII data persistence.</a:t>
            </a:r>
          </a:p>
          <a:p>
            <a:pPr>
              <a:spcBef>
                <a:spcPts val="1000"/>
              </a:spcBef>
              <a:defRPr b="1" sz="1400">
                <a:solidFill>
                  <a:srgbClr val="1F5F6B"/>
                </a:solidFill>
              </a:defRPr>
            </a:pPr>
            <a:r>
              <a:t>2. Aqua Trivy Container &amp; Dependency Scan: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🛡 Scan Scope: Container image `easeway:latest` and npm production dependency tree.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🛡 Severity Threshold: Pipeline triggers warnings/alerts on HIGH and halts on CRITICAL CVEs.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🛡 Identified CVE Analysis: Resolved cross-spawn and transitive dependency vulnerabilities via locked package-lock.json.</a:t>
            </a:r>
          </a:p>
          <a:p>
            <a:pPr>
              <a:spcBef>
                <a:spcPts val="200"/>
              </a:spcBef>
              <a:defRPr sz="1100">
                <a:solidFill>
                  <a:srgbClr val="17252E"/>
                </a:solidFill>
              </a:defRPr>
            </a:pPr>
            <a:r>
              <a:t>  🛡 Base Image Optimization: Using `node:20-bookworm-slim` stripped 650MB of unnecessary build utilities and legacy OS packages, eliminating over 40 potential OS-level CVEs.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LEARNINGS &amp; INTERPRETATIONS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Engineering Analysis, Reflection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F5F6B"/>
                </a:solidFill>
              </a:defRPr>
            </a:pPr>
            <a:r>
              <a:t>Key Pipeline Performance Findings:</a:t>
            </a:r>
          </a:p>
          <a:p>
            <a:pPr>
              <a:spcBef>
                <a:spcPts val="400"/>
              </a:spcBef>
              <a:defRPr sz="1100">
                <a:solidFill>
                  <a:srgbClr val="4F626C"/>
                </a:solidFill>
              </a:defRPr>
            </a:pPr>
            <a:r>
              <a:t>• CI/CD Build Speed: Full pipeline completes in under 2 minutes when leveraging Docker layer caching.</a:t>
            </a:r>
          </a:p>
          <a:p>
            <a:pPr>
              <a:spcBef>
                <a:spcPts val="400"/>
              </a:spcBef>
              <a:defRPr sz="1100">
                <a:solidFill>
                  <a:srgbClr val="4F626C"/>
                </a:solidFill>
              </a:defRPr>
            </a:pPr>
            <a:r>
              <a:t>• Shift-Left Efficiency: Security vulnerabilities caught in CI stage rather than during production penetration tests.</a:t>
            </a:r>
          </a:p>
          <a:p>
            <a:pPr>
              <a:spcBef>
                <a:spcPts val="400"/>
              </a:spcBef>
              <a:defRPr sz="1100">
                <a:solidFill>
                  <a:srgbClr val="4F626C"/>
                </a:solidFill>
              </a:defRPr>
            </a:pPr>
            <a:r>
              <a:t>• Automated Quality Enforcement: 19 test cases act as an immutable barrier preventing regression bugs.</a:t>
            </a:r>
          </a:p>
          <a:p>
            <a:pPr>
              <a:spcBef>
                <a:spcPts val="400"/>
              </a:spcBef>
              <a:defRPr sz="1100">
                <a:solidFill>
                  <a:srgbClr val="4F626C"/>
                </a:solidFill>
              </a:defRPr>
            </a:pPr>
            <a:r>
              <a:t>• Resource Utilization: Slim containers keep memory footprint under 90MB on EC2.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52E"/>
                </a:solidFill>
              </a:defRPr>
            </a:pPr>
            <a:r>
              <a:t>Challenges Overcome &amp; Personal Reflection:</a:t>
            </a:r>
          </a:p>
          <a:p>
            <a:pPr>
              <a:spcBef>
                <a:spcPts val="400"/>
              </a:spcBef>
              <a:defRPr sz="1100">
                <a:solidFill>
                  <a:srgbClr val="17252E"/>
                </a:solidFill>
              </a:defRPr>
            </a:pPr>
            <a:r>
              <a:t>✔ Native Module Compilation in Docker: Solved `better-sqlite3` build in slim Alpine/Debian by adding multi-stage compilation dependencies.</a:t>
            </a:r>
          </a:p>
          <a:p>
            <a:pPr>
              <a:spcBef>
                <a:spcPts val="400"/>
              </a:spcBef>
              <a:defRPr sz="1100">
                <a:solidFill>
                  <a:srgbClr val="17252E"/>
                </a:solidFill>
              </a:defRPr>
            </a:pPr>
            <a:r>
              <a:t>✔ Windows Asynchronous File Locks: Debugged and resolved temp directory EPERM cleanup locks in Node.js test runners.</a:t>
            </a:r>
          </a:p>
          <a:p>
            <a:pPr>
              <a:spcBef>
                <a:spcPts val="400"/>
              </a:spcBef>
              <a:defRPr sz="1100">
                <a:solidFill>
                  <a:srgbClr val="17252E"/>
                </a:solidFill>
              </a:defRPr>
            </a:pPr>
            <a:r>
              <a:t>✔ Balancing Anonymity with Clinical Safety: Designed rule-based non-diagnostic triggers that signpost helplines without creating deanonymizing audit trails.</a:t>
            </a:r>
          </a:p>
          <a:p>
            <a:pPr>
              <a:spcBef>
                <a:spcPts val="400"/>
              </a:spcBef>
              <a:defRPr sz="1100">
                <a:solidFill>
                  <a:srgbClr val="17252E"/>
                </a:solidFill>
              </a:defRPr>
            </a:pPr>
            <a:r>
              <a:t>✔ DevSecOps Mindset: Learned that security is not a gatekeeper at the end of the waterfall, but an automated quality metric built into every commit.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LOOKING FORWARD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F5F6B"/>
                </a:solidFill>
              </a:defRPr>
            </a:pPr>
            <a:r>
              <a:t>Project Summary &amp; Achievements:</a:t>
            </a:r>
          </a:p>
          <a:p>
            <a:pPr>
              <a:spcBef>
                <a:spcPts val="400"/>
              </a:spcBef>
              <a:defRPr sz="1200">
                <a:solidFill>
                  <a:srgbClr val="17252E"/>
                </a:solidFill>
              </a:defRPr>
            </a:pPr>
            <a:r>
              <a:t>✔ Successfully developed and deployed an end-to-end cloud-native wellness platform adhering to UN SDGs 3 and 9.</a:t>
            </a:r>
          </a:p>
          <a:p>
            <a:pPr>
              <a:spcBef>
                <a:spcPts val="400"/>
              </a:spcBef>
              <a:defRPr sz="1200">
                <a:solidFill>
                  <a:srgbClr val="17252E"/>
                </a:solidFill>
              </a:defRPr>
            </a:pPr>
            <a:r>
              <a:t>✔ Delivered full automation covering GitHub version control, Jenkins CI/CD, Docker containerization, and AWS Terraform IaC.</a:t>
            </a:r>
          </a:p>
          <a:p>
            <a:pPr>
              <a:spcBef>
                <a:spcPts val="400"/>
              </a:spcBef>
              <a:defRPr sz="1200">
                <a:solidFill>
                  <a:srgbClr val="17252E"/>
                </a:solidFill>
              </a:defRPr>
            </a:pPr>
            <a:r>
              <a:t>✔ Demonstrated real-world DevSecOps integration: Static Application Security Testing (SonarQube) and image vulnerability scanning (Trivy).</a:t>
            </a:r>
          </a:p>
          <a:p>
            <a:pPr>
              <a:spcBef>
                <a:spcPts val="400"/>
              </a:spcBef>
              <a:defRPr sz="1200">
                <a:solidFill>
                  <a:srgbClr val="17252E"/>
                </a:solidFill>
              </a:defRPr>
            </a:pPr>
            <a:r>
              <a:t>✔ Met 100% of the SAKEC / Mumbai University DevSecOps laboratory syllabus requirements (CO1, CO2, CO3).</a:t>
            </a:r>
          </a:p>
          <a:p>
            <a:pPr>
              <a:spcBef>
                <a:spcPts val="1200"/>
              </a:spcBef>
              <a:defRPr b="1" sz="1500">
                <a:solidFill>
                  <a:srgbClr val="B26A00"/>
                </a:solidFill>
              </a:defRPr>
            </a:pPr>
            <a:r>
              <a:t>Future Scope &amp; Enhancements:</a:t>
            </a:r>
          </a:p>
          <a:p>
            <a:pPr>
              <a:spcBef>
                <a:spcPts val="400"/>
              </a:spcBef>
              <a:defRPr sz="1200">
                <a:solidFill>
                  <a:srgbClr val="4F626C"/>
                </a:solidFill>
              </a:defRPr>
            </a:pPr>
            <a:r>
              <a:t>🚀 Kubernetes Orchestration: Migrate Docker container to Amazon EKS with auto-scaling and zero-downtime rolling updates.</a:t>
            </a:r>
          </a:p>
          <a:p>
            <a:pPr>
              <a:spcBef>
                <a:spcPts val="400"/>
              </a:spcBef>
              <a:defRPr sz="1200">
                <a:solidFill>
                  <a:srgbClr val="4F626C"/>
                </a:solidFill>
              </a:defRPr>
            </a:pPr>
            <a:r>
              <a:t>🚀 Dynamic Application Security Testing (DAST): Embed OWASP ZAP into staging pipelines to detect runtime flaws.</a:t>
            </a:r>
          </a:p>
          <a:p>
            <a:pPr>
              <a:spcBef>
                <a:spcPts val="400"/>
              </a:spcBef>
              <a:defRPr sz="1200">
                <a:solidFill>
                  <a:srgbClr val="4F626C"/>
                </a:solidFill>
              </a:defRPr>
            </a:pPr>
            <a:r>
              <a:t>🚀 Cloud Secret Management: Store AES keys in AWS Secrets Manager / KMS with automated 90-day rotation.</a:t>
            </a:r>
          </a:p>
          <a:p>
            <a:pPr>
              <a:spcBef>
                <a:spcPts val="400"/>
              </a:spcBef>
              <a:defRPr sz="1200">
                <a:solidFill>
                  <a:srgbClr val="4F626C"/>
                </a:solidFill>
              </a:defRPr>
            </a:pPr>
            <a:r>
              <a:t>🚀 Federated OpenID Connect: Support institutional student SSO without storing campus email in application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DELIVERABLES &amp; ARTIFACTS</a:t>
            </a:r>
          </a:p>
          <a:p>
            <a:pPr>
              <a:defRPr sz="2400" b="1">
                <a:solidFill>
                  <a:srgbClr val="1F5F6B"/>
                </a:solidFill>
              </a:defRPr>
            </a:pPr>
            <a:r>
              <a:t>Evidence of Completion &amp; Submission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F5F6B"/>
                </a:solidFill>
              </a:defRPr>
            </a:pPr>
            <a:r>
              <a:t>Project Submission Deliverables: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🔗 GitHub Repository: </a:t>
            </a:r>
            <a:r>
              <a:rPr b="0" sz="1100">
                <a:solidFill>
                  <a:srgbClr val="4F626C"/>
                </a:solidFill>
              </a:rPr>
              <a:t>Contains full application source code, Dockerfile, Jenkinsfile, Terraform IaC, Ansible, and Prometheus configs.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🔗 Demonstration Video (LinkedIn): </a:t>
            </a:r>
            <a:r>
              <a:rPr b="0" sz="1100">
                <a:solidFill>
                  <a:srgbClr val="4F626C"/>
                </a:solidFill>
              </a:rPr>
              <a:t>Full 4-minute video demonstrating working website, Docker containerization, Jenkins pipeline, Terraform, and Trivy scan.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🔗 Comprehensive Academic Report: </a:t>
            </a:r>
            <a:r>
              <a:rPr b="0" sz="1100">
                <a:solidFill>
                  <a:srgbClr val="4F626C"/>
                </a:solidFill>
              </a:rPr>
              <a:t>35+ page detailed technical documentation covering architecture, threat modeling, vulnerability tables, and reflection.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🔗 Security Audit Reports: </a:t>
            </a:r>
            <a:r>
              <a:rPr b="0" sz="1100">
                <a:solidFill>
                  <a:srgbClr val="4F626C"/>
                </a:solidFill>
              </a:rPr>
              <a:t>SonarQube SAST analysis (Quality Gate A) and Trivy HTML vulnerability scan artifacts.</a:t>
            </a:r>
          </a:p>
          <a:p>
            <a:pPr>
              <a:spcBef>
                <a:spcPts val="600"/>
              </a:spcBef>
              <a:defRPr b="1" sz="1200">
                <a:solidFill>
                  <a:srgbClr val="17252E"/>
                </a:solidFill>
              </a:defRPr>
            </a:pPr>
            <a:r>
              <a:t>🔗 Live Demonstration: </a:t>
            </a:r>
            <a:r>
              <a:rPr b="0" sz="1100">
                <a:solidFill>
                  <a:srgbClr val="4F626C"/>
                </a:solidFill>
              </a:rPr>
              <a:t>Accessible on EC2 host / local Docker environment on port 3000.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